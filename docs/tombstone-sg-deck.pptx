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E6E9EF"/>
                </a:solidFill>
                <a:latin typeface="Arial"/>
              </a:rPr>
              <a:t>🪦 Tombstone 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6EA8FE"/>
                </a:solidFill>
                <a:latin typeface="Arial"/>
              </a:rPr>
              <a:t>A “Restriction Order” for wallets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A94A6"/>
                </a:solidFill>
                <a:latin typeface="Arial"/>
              </a:rPr>
              <a:t>A graduated, on-chain restriction order for self-custody wallets.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8A94A6"/>
                </a:solidFill>
                <a:latin typeface="Arial"/>
              </a:rPr>
              <a:t>Chainlink CRE detects EIP-7702 sweeper takeovers across chains, reaches DON consensus,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8A94A6"/>
                </a:solidFill>
                <a:latin typeface="Arial"/>
              </a:rPr>
              <a:t>and writes a contract-readable flag that payroll and Safe multisigs honour.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A94A6"/>
                </a:solidFill>
                <a:latin typeface="Arial"/>
              </a:rPr>
              <a:t>Track: Chainlink CRE + NOWNodes  ·  Builder: Haziq (@mhrk04)  ·  Cost: $0  ·  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9EF"/>
                </a:solidFill>
                <a:latin typeface="Arial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8A94A6"/>
                </a:solidFill>
                <a:latin typeface="Arial"/>
              </a:rPr>
              <a:t>Singapore can freeze a victim’s bank transfers. Nothing stops money flowing into a wallet the scammer already controls.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3474720" cy="1828800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6EA8FE"/>
                </a:solidFill>
                <a:latin typeface="Arial"/>
              </a:rPr>
              <a:t>S$913.1M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E6E9EF"/>
                </a:solidFill>
                <a:latin typeface="Arial"/>
              </a:rPr>
              <a:t>lost to scams in 2025 (37,308 cases);
crypto S$182.2M (~20%).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Arial"/>
              </a:rPr>
              <a:t>[1]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2103120"/>
            <a:ext cx="3474720" cy="1828800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22402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6EA8FE"/>
                </a:solidFill>
                <a:latin typeface="Arial"/>
              </a:rPr>
              <a:t>123.6%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97180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E6E9EF"/>
                </a:solidFill>
                <a:latin typeface="Arial"/>
              </a:rPr>
              <a:t>rise in gov-official impersonation
scams — 3,363 cases, S$242.9M.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36576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Arial"/>
              </a:rPr>
              <a:t>[2]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2103120"/>
            <a:ext cx="3474720" cy="1828800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22402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6EA8FE"/>
                </a:solidFill>
                <a:latin typeface="Arial"/>
              </a:rPr>
              <a:t>&gt;97%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97180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E6E9EF"/>
                </a:solidFill>
                <a:latin typeface="Arial"/>
              </a:rPr>
              <a:t>of EIP-7702 delegations used ONE
copy-pasted sweeper; ~79k authorised.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36576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Arial"/>
              </a:rPr>
              <a:t>[3]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06240"/>
            <a:ext cx="11064240" cy="1737360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6E9EF"/>
                </a:solidFill>
                <a:latin typeface="Arial"/>
              </a:rPr>
              <a:t>The Protection from Scams Act 2025 lets police issue Restriction Orders — to banks. [4]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A94A6"/>
                </a:solidFill>
                <a:latin typeface="Arial"/>
              </a:rPr>
              <a:t>12 ROs by Feb 2026; MHA notes “significant system changes are required for graduated restrictions.” [4]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A94A6"/>
                </a:solidFill>
                <a:latin typeface="Arial"/>
              </a:rPr>
              <a:t>Our reading: ROs don’t reach self-custody wallets. Attacker-side screens pass the victim —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A94A6"/>
                </a:solidFill>
                <a:latin typeface="Arial"/>
              </a:rPr>
              <a:t>the address looks clean; the compromise lives in the 7702 delegation. No victim-side registry exists.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4A6"/>
                </a:solidFill>
                <a:latin typeface="Arial"/>
              </a:rPr>
              <a:t>[1] SPF Annual Scam &amp; Cybercrime Brief 2025  [2] CNA, 25 Feb 2026  [3] CoinDesk/Wintermute  [4] MHA. Full links in docs/sources.md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9EF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8A94A6"/>
                </a:solidFill>
                <a:latin typeface="Arial"/>
              </a:rPr>
              <a:t>A graduated on-chain restriction order, written by a neutral DON — not a single key.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783080" cy="822960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148840"/>
            <a:ext cx="163677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6E9EF"/>
                </a:solidFill>
                <a:latin typeface="Arial"/>
              </a:rPr>
              <a:t>8 mainnets + Sepolia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395728" y="2103120"/>
            <a:ext cx="1783080" cy="822960"/>
          </a:xfrm>
          <a:prstGeom prst="rect">
            <a:avLst/>
          </a:prstGeom>
          <a:solidFill>
            <a:srgbClr val="141922"/>
          </a:solidFill>
          <a:ln w="12700">
            <a:solidFill>
              <a:srgbClr val="6EA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148840"/>
            <a:ext cx="163677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6E9EF"/>
                </a:solidFill>
                <a:latin typeface="Arial"/>
              </a:rPr>
              <a:t>CRE: 1 call/chain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42816" y="2103120"/>
            <a:ext cx="1783080" cy="822960"/>
          </a:xfrm>
          <a:prstGeom prst="rect">
            <a:avLst/>
          </a:prstGeom>
          <a:solidFill>
            <a:srgbClr val="141922"/>
          </a:solidFill>
          <a:ln w="12700">
            <a:solidFill>
              <a:srgbClr val="6EA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2148840"/>
            <a:ext cx="163677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6E9EF"/>
                </a:solidFill>
                <a:latin typeface="Arial"/>
              </a:rPr>
              <a:t>classify + consensus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9904" y="2103120"/>
            <a:ext cx="1783080" cy="822960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3056" y="2148840"/>
            <a:ext cx="163677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6E9EF"/>
                </a:solidFill>
                <a:latin typeface="Arial"/>
              </a:rPr>
              <a:t>merge (worst-wins)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36992" y="2103120"/>
            <a:ext cx="1783080" cy="822960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0144" y="2148840"/>
            <a:ext cx="163677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6E9EF"/>
                </a:solidFill>
                <a:latin typeface="Arial"/>
              </a:rPr>
              <a:t>writeReport ×3 testnets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2103120"/>
            <a:ext cx="1783080" cy="822960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57232" y="2148840"/>
            <a:ext cx="163677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6E9EF"/>
                </a:solidFill>
                <a:latin typeface="Arial"/>
              </a:rPr>
              <a:t>TombstoneRegistry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6E9EF"/>
                </a:solidFill>
                <a:latin typeface="Arial"/>
              </a:rPr>
              <a:t>Consumers read the registry: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11064240" cy="1005840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109728" cy="1005840"/>
          </a:xfrm>
          <a:prstGeom prst="rect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49039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8A4C"/>
                </a:solidFill>
                <a:latin typeface="Arial"/>
              </a:rPr>
              <a:t>SafePayroll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49039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6E9EF"/>
                </a:solidFill>
                <a:latin typeface="Arial"/>
              </a:rPr>
              <a:t>Escrows (never confiscates) salary to a flagged wallet. Releases only after the employer re-attests a new wallet AND the registry reports it scanned-clean.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00600"/>
            <a:ext cx="11064240" cy="1005840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800600"/>
            <a:ext cx="109728" cy="10058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9204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3261E"/>
                </a:solidFill>
                <a:latin typeface="Arial"/>
              </a:rPr>
              <a:t>TombstoneGuard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892040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6E9EF"/>
                </a:solidFill>
                <a:latin typeface="Arial"/>
              </a:rPr>
              <a:t>A Safe v1.4.1 guard that rejects any transaction signed or executed by a flagged owner. The WazirX / Phemex lesson.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4A6"/>
                </a:solidFill>
                <a:latin typeface="Arial"/>
              </a:rPr>
              <a:t>State machine: NONE → SUSPECT → TOMBSTONED → CLEARED. Never downgrades. No wallet clears its own flag.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9EF"/>
                </a:solidFill>
                <a:latin typeface="Arial"/>
              </a:rPr>
              <a:t>Key finding: the skeleton hash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E6E9EF"/>
                </a:solidFill>
                <a:latin typeface="Arial"/>
              </a:rPr>
              <a:t>Sweeper copies are byte-identical except for the embedded thief address (a PUSH20 operand),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E6E9EF"/>
                </a:solidFill>
                <a:latin typeface="Arial"/>
              </a:rPr>
              <a:t>so their raw code hashes all differ — a naive denylist misses every copy.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11064240" cy="1188720"/>
          </a:xfrm>
          <a:prstGeom prst="rect">
            <a:avLst/>
          </a:prstGeom>
          <a:solidFill>
            <a:srgbClr val="141922"/>
          </a:solidFill>
          <a:ln w="12700">
            <a:solidFill>
              <a:srgbClr val="6EA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EA8FE"/>
                </a:solidFill>
                <a:latin typeface="Arial"/>
              </a:rPr>
              <a:t>Zero the PUSH20 operands, strip the CBOR tail, keccak256 → ONE skeleton hash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A94A6"/>
                </a:solidFill>
                <a:latin typeface="Arial"/>
              </a:rPr>
              <a:t>that catches the whole family. Verified: two copies differing only by thief address collapse to one hash.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11064240" cy="731520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8A4C"/>
                </a:solidFill>
                <a:latin typeface="Arial"/>
              </a:rPr>
              <a:t>0x84593f690155fc195163a8fbd37122d36e5877c0f69a98b4dd9c3161d036fc6d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A94A6"/>
                </a:solidFill>
                <a:latin typeface="Arial"/>
              </a:rPr>
              <a:t>Shipped in the scanner + workflow sweeperSkeletons list and matched by classifyDelegate.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4A6"/>
                </a:solidFill>
                <a:latin typeface="Arial"/>
              </a:rPr>
              <a:t>Computed from a real on-chain delegate during a live mainnet scan. See docs/spike-log.md.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9EF"/>
                </a:solidFill>
                <a:latin typeface="Arial"/>
              </a:rPr>
              <a:t>What’s built (verified locally)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841248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09728" cy="841248"/>
          </a:xfrm>
          <a:prstGeom prst="rect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2926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6E9EF"/>
                </a:solidFill>
                <a:latin typeface="Arial"/>
              </a:rPr>
              <a:t>Contracts (Foundry)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51790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8A94A6"/>
                </a:solidFill>
                <a:latin typeface="Arial"/>
              </a:rPr>
              <a:t>forge 16/16 — real EIP-7702 sweep, real Safe v1.4.1 guard revert, deployless CodeReader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95728"/>
            <a:ext cx="11064240" cy="841248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95728"/>
            <a:ext cx="109728" cy="841248"/>
          </a:xfrm>
          <a:prstGeom prst="rect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2926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6E9EF"/>
                </a:solidFill>
                <a:latin typeface="Arial"/>
              </a:rPr>
              <a:t>CRE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45059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8A94A6"/>
                </a:solidFill>
                <a:latin typeface="Arial"/>
              </a:rPr>
              <a:t>20/20 tests + typecheck vs @chainlink/cre-sdk 1.23.0; cron + HTTP triggers, consensus, 3-testnet write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28416"/>
            <a:ext cx="11064240" cy="841248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28416"/>
            <a:ext cx="109728" cy="841248"/>
          </a:xfrm>
          <a:prstGeom prst="rect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2926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6E9EF"/>
                </a:solidFill>
                <a:latin typeface="Arial"/>
              </a:rPr>
              <a:t>Scanner (Bun + viem)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38328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8A94A6"/>
                </a:solidFill>
                <a:latin typeface="Arial"/>
              </a:rPr>
              <a:t>8/8 tests; live keyless read-only scan across 8 mainnets, batch + deployless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61104"/>
            <a:ext cx="11064240" cy="841248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61104"/>
            <a:ext cx="109728" cy="841248"/>
          </a:xfrm>
          <a:prstGeom prst="rect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15968"/>
            <a:ext cx="2926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6E9EF"/>
                </a:solidFill>
                <a:latin typeface="Arial"/>
              </a:rPr>
              <a:t>Dashboard (React 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31596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8A94A6"/>
                </a:solidFill>
                <a:latin typeface="Arial"/>
              </a:rPr>
              <a:t>typecheck + build in demo and live modes; status grid, 5 UI states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93792"/>
            <a:ext cx="11064240" cy="841248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193792"/>
            <a:ext cx="109728" cy="84124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48655"/>
            <a:ext cx="2926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6E9EF"/>
                </a:solidFill>
                <a:latin typeface="Arial"/>
              </a:rPr>
              <a:t>Broadcast / cre 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524865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8A94A6"/>
                </a:solidFill>
                <a:latin typeface="Arial"/>
              </a:rPr>
              <a:t>code + runbook ready; needs a funded testnet key + CRE CLI (judge/human step)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4A6"/>
                </a:solidFill>
                <a:latin typeface="Arial"/>
              </a:rPr>
              <a:t>github.com/mhrk04/tombstone-sg · fresh clone passes make test · gitleaks clean, no secrets committed.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9EF"/>
                </a:solidFill>
                <a:latin typeface="Arial"/>
              </a:rPr>
              <a:t>A restriction order for wallets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E6E9EF"/>
                </a:solidFill>
                <a:latin typeface="Arial"/>
              </a:rPr>
              <a:t>Banks told MHA they can’t build graduated restrictions yet.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E6E9EF"/>
                </a:solidFill>
                <a:latin typeface="Arial"/>
              </a:rPr>
              <a:t>Here’s one for wallets — readable by any contract, on any chain.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5440680" cy="3108960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7889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6EA8FE"/>
                </a:solidFill>
                <a:latin typeface="Arial"/>
              </a:rPr>
              <a:t>Chainlink CRE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429000"/>
            <a:ext cx="49377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9EF"/>
                </a:solidFill>
                <a:latin typeface="Arial"/>
              </a:rPr>
              <a:t>• cron + HTTP triggers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9EF"/>
                </a:solidFill>
                <a:latin typeface="Arial"/>
              </a:rPr>
              <a:t>• HTTPClient node mode + secrets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9EF"/>
                </a:solidFill>
                <a:latin typeface="Arial"/>
              </a:rPr>
              <a:t>• consensusIdenticalAggregation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9EF"/>
                </a:solidFill>
                <a:latin typeface="Arial"/>
              </a:rPr>
              <a:t>• runtime.report → writeReport ×3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9EF"/>
                </a:solidFill>
                <a:latin typeface="Arial"/>
              </a:rPr>
              <a:t>• ReceiverTemplate consumer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651760"/>
            <a:ext cx="5440680" cy="3108960"/>
          </a:xfrm>
          <a:prstGeom prst="rect">
            <a:avLst/>
          </a:prstGeom>
          <a:solidFill>
            <a:srgbClr val="141922"/>
          </a:solidFill>
          <a:ln w="1270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7889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6EA8FE"/>
                </a:solidFill>
                <a:latin typeface="Arial"/>
              </a:rPr>
              <a:t>NOWNodes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429000"/>
            <a:ext cx="49377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9EF"/>
                </a:solidFill>
                <a:latin typeface="Arial"/>
              </a:rPr>
              <a:t>• batched eth + eth-sepolia JSON-RPC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9EF"/>
                </a:solidFill>
                <a:latin typeface="Arial"/>
              </a:rPr>
              <a:t>• config-driven keyed chains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9EF"/>
                </a:solidFill>
                <a:latin typeface="Arial"/>
              </a:rPr>
              <a:t>• 404/429 → public fallback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9EF"/>
                </a:solidFill>
                <a:latin typeface="Arial"/>
              </a:rPr>
              <a:t>• read-only, strict rate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4A6"/>
                </a:solidFill>
                <a:latin typeface="Arial"/>
              </a:rPr>
              <a:t>Not endorsed by MAS, SPF, or any bank. Hackathon reference implementation — needs AppSec review before production.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